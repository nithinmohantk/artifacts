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ePrescribing in EU &amp; Ireland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0CAF9"/>
                </a:solidFill>
              </a:defRPr>
            </a:pPr>
            <a:r>
              <a:t>A Solution Architect's Guide to FHIR-Based Electronic Prescription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DEFB"/>
                </a:solidFill>
              </a:defRPr>
            </a:pPr>
            <a:r>
              <a:t>Nithin Mohan T K | Enterprise Solution Architect | dataa.dev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BDEFB"/>
                </a:solidFill>
              </a:defRPr>
            </a:pPr>
            <a:r>
              <a:t>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Summary: The Case for ePrescribing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Up to 70% reduction in prescription errors through automation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Real-time clinical decision support: drug interactions, allergies, dosage checks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40-60% reduction in dispensing time through elimination of manual transcription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Cross-border care: EU citizens can obtain medications across member states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Ireland's Digital for Care 2024-2030 framework prioritizes national ePrescribing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Ireland's ePrescribing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95C"/>
                </a:solidFill>
              </a:defRPr>
            </a:pPr>
            <a:r>
              <a:t>Historical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Paper-based workflows prone to errors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Illegible handwriting causing wrong dispenses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No real-time prescriber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Limited clinical decision support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Audit gaps for controlled substances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95C"/>
                </a:solidFill>
              </a:defRPr>
            </a:pPr>
            <a:r>
              <a:t>Digital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COVID-19 accelerated Healthmail adoption (2020)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High Tech Hub for specialist medications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Digital for Care 2024-2030 Framework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National ePrescribing Project (NePS)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Target: Pharmacy integration by 2028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EU ePrescription 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Cross-Border Health Directive (2011/24/EU): Legal foundation for prescription portability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eHDSI / MyHealth@EU: Technical infrastructure for cross-border health data exchange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OpenNCP Platform: Reference implementation for National Contact Points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Central Terminology Services: Maps national drug codes to international standards (ATC, EDQM)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European Health Data Space (EHDS): Mandatory ePrescription interoperability by 2029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Ireland-Specific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4839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IHI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Individual Health Identifier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Mandatory patient identifier in all FHIR resources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Health Practitioner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Prescriber authentication &amp; authorization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PCRS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Primary Care Reimbursement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Drug scheme eligibility &amp; claims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HPRA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Health Products Regulatory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Controlled drug reporting (Schedule 2-5)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SNOMED CT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Irish Extension (9th Edition)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National medication terminology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FHIR-Based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65C0"/>
                </a:solidFill>
              </a:defRPr>
            </a:pPr>
            <a:r>
              <a:t>Core FHIR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MedicationRequest: The prescription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MedicationDispense: Dispensing record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Medication: Product details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Patient: IHI + demographics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Practitioner: HPI +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Provenance: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65C0"/>
                </a:solidFill>
              </a:defRPr>
            </a:pPr>
            <a:r>
              <a:t>Architecture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Azure API Management + FHIR Server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Clinical Decision Support Engine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Prescription Workflow Service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Identity Service (OAuth 2.0/OIDC)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Immutable Audit Database</a:t>
            </a:r>
          </a:p>
          <a:p>
            <a:pPr>
              <a:spcAft>
                <a:spcPts val="1000"/>
              </a:spcAft>
              <a:defRPr sz="1800">
                <a:solidFill>
                  <a:srgbClr val="37474F"/>
                </a:solidFill>
              </a:defRPr>
            </a:pPr>
            <a:r>
              <a:t>• Event Bus for async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Clinical Decision Support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Drug-Drug Interactions: Severity-based alerts (Contraindicated → Block, Severe → Warn)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Allergy Checking: Cross-reference with AllergyIntolerance resource, handle class allergies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Dosage Validation: Age, weight, renal/hepatic function adjustments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Therapeutic Duplication: Detect same-class medications (e.g., multiple ACE inhibitors)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Alert Fatigue Management: Tune thresholds, track override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&amp; Compliance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4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624839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Actor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Authorization Scope</a:t>
                      </a:r>
                    </a:p>
                  </a:txBody>
                  <a:tcPr>
                    <a:solidFill>
                      <a:srgbClr val="EF6C00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Prescriber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HPI certificate + MFA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Create/view prescriptions, CDS override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Pharmacist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PSI registration + smartcard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Query, dispense, partial dispense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Patient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MyGovID (eIDAS)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View prescriptions, consent management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System (EHR)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mTLS + OAuth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Submit prescriptions, notifications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Auditor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HSE identity + RBAC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7474F"/>
                          </a:solidFill>
                        </a:defRPr>
                      </a:pPr>
                      <a:r>
                        <a:t>Read-only audit access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Use standard terminologies: SNOMED CT, ICD-10, EDQM dose forms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Support partial dispensing with remaining balance tracking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Provide offline fallback with queued synchronization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Document GDPR consent for cross-border data exchange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Implement resilience patterns: Circuit breaker, retry, bulkhead isolation</a:t>
            </a:r>
          </a:p>
          <a:p>
            <a:pPr>
              <a:spcAft>
                <a:spcPts val="1400"/>
              </a:spcAft>
              <a:defRPr sz="2200">
                <a:solidFill>
                  <a:srgbClr val="37474F"/>
                </a:solidFill>
              </a:defRPr>
            </a:pPr>
            <a:r>
              <a:t>• Engage clinical stakeholders early for workflow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Build for MyHealth@EU interoperability from day one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Master FHIR MedicationRequest resource and workflow patterns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Integrate IHI/HPI national identifiers as mandatory requirements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Implement comprehensive clinical decision support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Design for GDPR compliance with documented consent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Special handling for controlled substances (Schedule 2-5)</a:t>
            </a:r>
          </a:p>
          <a:p>
            <a:pPr>
              <a:spcAft>
                <a:spcPts val="1600"/>
              </a:spcAft>
              <a:defRPr sz="2400">
                <a:solidFill>
                  <a:srgbClr val="FFFFFF"/>
                </a:solidFill>
              </a:defRPr>
            </a:pPr>
            <a:r>
              <a:t>✓ Plan architecture for EHDS requirements (2029 deadline)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